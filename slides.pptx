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3931920"/>
            <a:ext cx="4114800" cy="41148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177272" y="4846320"/>
            <a:ext cx="2377440" cy="2377440"/>
          </a:xfrm>
          <a:prstGeom prst="ellipse">
            <a:avLst/>
          </a:prstGeom>
          <a:solidFill>
            <a:srgbClr val="232C63"/>
          </a:solidFill>
          <a:ln w="12700">
            <a:solidFill>
              <a:srgbClr val="5B7F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DE LUJÁN — PROGRAMACIÓN ORIENTADA A OBJETOS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 gráficas</a:t>
            </a:r>
            <a:endParaRPr lang="en-US" sz="4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JavaFX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4617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Swing a JavaFX: fundamentos, MVC y Scene Builder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vamos a ver hoy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14344" cy="3840480"/>
          </a:xfrm>
          <a:prstGeom prst="roundRect">
            <a:avLst>
              <a:gd name="adj" fmla="val 156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2965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sin Scene Builder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296570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 Application, Stage/Scene/Node, layouts, controles y eventos — todo a mano.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37304" y="1874520"/>
            <a:ext cx="3514344" cy="3840480"/>
          </a:xfrm>
          <a:prstGeom prst="roundRect">
            <a:avLst>
              <a:gd name="adj" fmla="val 156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57344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57344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1624" y="3017520"/>
            <a:ext cx="2965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MVC y la migración del chat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1624" y="3840480"/>
            <a:ext cx="296570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separar en capas, recorrido de la vista real, tabla Swing vs JavaFX y Platform.runLater().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25968" y="1874520"/>
            <a:ext cx="3514344" cy="3840480"/>
          </a:xfrm>
          <a:prstGeom prst="roundRect">
            <a:avLst>
              <a:gd name="adj" fmla="val 156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46008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446008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00288" y="3017520"/>
            <a:ext cx="2965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Scene Builder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00288" y="3840480"/>
            <a:ext cx="296570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Instalación, demo de arrastrar y soltar, el FXML generado y el patrón @FXML Controller.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5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2880360"/>
            <a:ext cx="926287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sin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Scene Builder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4343400"/>
            <a:ext cx="92628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Armamos una ventana simple 100% a mano en código, sin herramientas visuales.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897112" y="822960"/>
            <a:ext cx="2377440" cy="2377440"/>
          </a:xfrm>
          <a:prstGeom prst="ellipse">
            <a:avLst/>
          </a:prstGeom>
          <a:solidFill>
            <a:srgbClr val="141B4D"/>
          </a:solidFill>
          <a:ln w="19050">
            <a:solidFill>
              <a:srgbClr val="5B7F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97112" y="8229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5B7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— CICLO DE VIDA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clase Application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32888" cy="2377440"/>
          </a:xfrm>
          <a:prstGeom prst="roundRect">
            <a:avLst>
              <a:gd name="adj" fmla="val 2308"/>
            </a:avLst>
          </a:prstGeom>
          <a:solidFill>
            <a:srgbClr val="EEF2FB"/>
          </a:solidFill>
          <a:ln/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240280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21671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a launch(). Nunca instanciar con "new".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81528" y="30175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7FE0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401568" y="2103120"/>
            <a:ext cx="2532888" cy="2377440"/>
          </a:xfrm>
          <a:prstGeom prst="roundRect">
            <a:avLst>
              <a:gd name="adj" fmla="val 2308"/>
            </a:avLst>
          </a:prstGeom>
          <a:solidFill>
            <a:srgbClr val="EEF2FB"/>
          </a:solidFill>
          <a:ln/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01568" y="2240280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38728" y="278892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init()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84448" y="3337560"/>
            <a:ext cx="21671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Opcional. Inicialización sin UI.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34456" y="30175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7FE0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254496" y="2103120"/>
            <a:ext cx="2532888" cy="2377440"/>
          </a:xfrm>
          <a:prstGeom prst="roundRect">
            <a:avLst>
              <a:gd name="adj" fmla="val 2308"/>
            </a:avLst>
          </a:prstGeom>
          <a:solidFill>
            <a:srgbClr val="5B7FE0"/>
          </a:solidFill>
          <a:ln/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54496" y="2240280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91656" y="278892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start(Stage)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37376" y="3337560"/>
            <a:ext cx="21671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obligatorio. Se construye y muestra la interfaz.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87384" y="30175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7FE0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07424" y="2103120"/>
            <a:ext cx="2532888" cy="2377440"/>
          </a:xfrm>
          <a:prstGeom prst="roundRect">
            <a:avLst>
              <a:gd name="adj" fmla="val 2308"/>
            </a:avLst>
          </a:prstGeom>
          <a:solidFill>
            <a:srgbClr val="EEF2FB"/>
          </a:solidFill>
          <a:ln/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07424" y="2240280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44584" y="278892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stop()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90304" y="3337560"/>
            <a:ext cx="216712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Opcional. Limpieza al cerrar la app.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8006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crea automáticamente el primer Stage y lo pasa como parámetro a start(). Para ventanas adicionales: new Stage().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— JERARQUÍA VISUAL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Stage, Scene y Node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2377440"/>
        </p:xfrm>
        <a:graphic>
          <a:graphicData uri="http://schemas.openxmlformats.org/drawingml/2006/table">
            <a:tbl>
              <a:tblPr/>
              <a:tblGrid>
                <a:gridCol w="2103120"/>
                <a:gridCol w="5943600"/>
                <a:gridCol w="265176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Equivalente en Swing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 ventana del sistema operativo (título, minimizar/maximizar/cerrar)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JFrame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El área de contenido dentro del Stage. Contiene el scene graph (árbol de Nodes)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JPanel raíz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Cualquier elemento visual: Label, Button, TextField, layouts como GridPane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JComponent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343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Stage tiene una Scene; una Scene tiene un Node raíz: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475488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141B4D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49377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 scene = new Scene(nodoRaiz, ancho, alto);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stage.setScene(scene);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— LAYOUTS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GridPane, HBox/VBox, BorderPane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GridPane — filas y columnas</a:t>
            </a:r>
            <a:endParaRPr lang="en-US" sz="15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HBox — apila horizontalmente</a:t>
            </a:r>
            <a:endParaRPr lang="en-US" sz="15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VBox — apila verticalmente</a:t>
            </a:r>
            <a:endParaRPr lang="en-US" sz="15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BorderPane — 5 zonas: top / center / right / bottom / left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77840" y="1828800"/>
            <a:ext cx="6062472" cy="865022"/>
          </a:xfrm>
          <a:prstGeom prst="rect">
            <a:avLst/>
          </a:prstGeom>
          <a:solidFill>
            <a:srgbClr val="5B7F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7840" y="1828800"/>
            <a:ext cx="6062472" cy="86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2693822"/>
            <a:ext cx="4122481" cy="2201875"/>
          </a:xfrm>
          <a:prstGeom prst="rect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2693822"/>
            <a:ext cx="4122481" cy="2201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(crece)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700321" y="2693822"/>
            <a:ext cx="1939991" cy="2201875"/>
          </a:xfrm>
          <a:prstGeom prst="rect">
            <a:avLst/>
          </a:prstGeom>
          <a:solidFill>
            <a:srgbClr val="7C93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00321" y="2693822"/>
            <a:ext cx="1939991" cy="2201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77840" y="4895698"/>
            <a:ext cx="6062472" cy="865022"/>
          </a:xfrm>
          <a:prstGeom prst="rect">
            <a:avLst/>
          </a:prstGeom>
          <a:solidFill>
            <a:srgbClr val="5B7F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4895698"/>
            <a:ext cx="6062472" cy="86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2578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root.setCenter(...); root.setBottom(...);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— CONTROLES BÁSICOS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JComponent a Node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27432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52120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JavaFX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JLabel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TextField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JTextField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mismo nombre, paquete distinto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JButton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JTextPane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setEditable(false) para solo lectura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ListView&lt;T&gt;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JList + AbstractListModel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tipado con generics, se alimenta con ObservableList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091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ListView, con ObservableList: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507492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141B4D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525780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ListView&lt;String&gt; listUsuarios = new ListView&lt;&gt;();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listUsuarios.setItems(FXCollections.observableArrayList(nombresDeUsuarios));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— EVENTOS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Eventos con lambdas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usaba ActionListener — JavaFX usa EventHandler&lt;T&gt;, casi siempre como lambda.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141B4D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69748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btnIniciar.setOnAction(e -&gt; {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lógica al hacer click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buSzPct val="100000"/>
              <a:buChar char="•"/>
            </a:pPr>
            <a:r>
              <a:rPr lang="en-US" sz="14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dispara el botón por defecto (equivalente a setDefaultButton):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52628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141B4D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470916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scene.setOnKeyPressed(e -&gt; {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(e.getCode() == KeyCode.ENTER) btnIniciar.fire();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5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2880360"/>
            <a:ext cx="926287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MVC y la migración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chat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4343400"/>
            <a:ext cx="92628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un MVC bien separado permite migrar de Swing a JavaFX tocando solo la vista.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897112" y="822960"/>
            <a:ext cx="2377440" cy="2377440"/>
          </a:xfrm>
          <a:prstGeom prst="ellipse">
            <a:avLst/>
          </a:prstGeom>
          <a:solidFill>
            <a:srgbClr val="141B4D"/>
          </a:solidFill>
          <a:ln w="19050">
            <a:solidFill>
              <a:srgbClr val="5B7F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97112" y="8229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5B7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— ARQUITECTURA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separar en capas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Controlador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(+ Modelo)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22876" y="27432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5B7FE0"/>
          </a:solidFill>
          <a:ln/>
        </p:spPr>
      </p:sp>
      <p:sp>
        <p:nvSpPr>
          <p:cNvPr id="7" name="Text 5"/>
          <p:cNvSpPr/>
          <p:nvPr/>
        </p:nvSpPr>
        <p:spPr>
          <a:xfrm>
            <a:off x="4722876" y="2743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IVista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(interfaz)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897112" y="27432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7C93D6"/>
          </a:solidFill>
          <a:ln/>
        </p:spPr>
      </p:sp>
      <p:sp>
        <p:nvSpPr>
          <p:cNvPr id="9" name="Text 7"/>
          <p:cNvSpPr/>
          <p:nvPr/>
        </p:nvSpPr>
        <p:spPr>
          <a:xfrm>
            <a:off x="8897112" y="2743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VistaGrafica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(Swing o JavaFX)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2743200"/>
            <a:ext cx="14310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↔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466076" y="2743200"/>
            <a:ext cx="14310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↔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Controlador y el Modelo no conocen Swing ni JavaFX — solo hablan con IVista.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343400"/>
            <a:ext cx="1109167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a JavaFX se puede acotar SOLO al paquete vista.grafica (3 clases).</a:t>
            </a:r>
            <a:endParaRPr lang="en-US" sz="14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que tocar Controlador, Modelo ni la lógica de red (versión RMI).</a:t>
            </a:r>
            <a:endParaRPr lang="en-US" sz="14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Clave: mantener los mismos nombres y firmas de métodos que ya usaba la vista Swing.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— RECORRIDO DEL CÓDIGO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3 clases de la vista gráfica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VentanaInicioSesion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258568"/>
            <a:ext cx="104058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login. Stage + Scene + GridPane con Label, TextField y Button.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880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VentanaPrincipal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310128"/>
            <a:ext cx="104058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del chat. BorderPane: HBox central (TextArea + VBox de usuarios) y HBox inferior (mensaje + enviar).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9319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VistaGrafica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361688"/>
            <a:ext cx="104058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 las dos ventanas anteriores e implementa IVista.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0749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actualizarChat() — se llama cada vez que el modelo cambia: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41B4D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562356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textChat.setText(sb.toString());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textChat.setScrollTop(Double.MAX_VALUE); // scroll automático al final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— REFERENCIA RÁPIDA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Swing vs JavaFX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512064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4690872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JavaFX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JFrame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Stage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Contenedor raíz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JPanel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Scene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 en grilla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MigLayout / GridLayout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GridPane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 en fila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FlowLayout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HBox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 en columna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BoxLayout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VBox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 con zonas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BorderLayout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BorderPane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editable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JTextField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TextField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multilínea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JTextPane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TextArea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JList + AbstractListModel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ListView&lt;T&gt; + ObservableList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JButton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Button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Etiqueta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JLabel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Label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 de botón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ActionListener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EventHandler&lt;ActionEvent&gt;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 de cierre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WindowAdapter.windowClosing()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stage.setOnCloseRequest()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Hilo de UI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SwingUtilities.invokeLater()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Platform.runLater()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Estilos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.setBackground()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CSS con -fx-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— HILOS DE UI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Platform.runLater()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9167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versión RMI, las actualizaciones del chat llegan por un callback de red en OTRO hilo.</a:t>
            </a:r>
            <a:endParaRPr lang="en-US" sz="155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que Swing, JavaFX exige que todo lo que toca componentes visuales corra en el hilo de UI.</a:t>
            </a:r>
            <a:endParaRPr lang="en-US" sz="155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problema en ambos frameworks, misma solución con distinto nombre de método.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402336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141B4D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420624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Swing:  SwingUtilities.invokeLater(() -&gt; actualizarChat(mensajes));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JavaFX: Platform.runLater(() -&gt; actualizarChat(mensajes));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2876" y="1463040"/>
            <a:ext cx="2743200" cy="2743200"/>
          </a:xfrm>
          <a:prstGeom prst="ellipse">
            <a:avLst/>
          </a:prstGeom>
          <a:solidFill>
            <a:srgbClr val="141B4D"/>
          </a:solidFill>
          <a:ln w="25400">
            <a:solidFill>
              <a:srgbClr val="5B7F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5400000">
            <a:off x="5682996" y="2377440"/>
            <a:ext cx="822960" cy="822960"/>
          </a:xfrm>
          <a:prstGeom prst="triangle">
            <a:avLst/>
          </a:prstGeom>
          <a:solidFill>
            <a:srgbClr val="5B7FE0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448056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5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502920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javafx:run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0" y="57150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ventanas de login — dos clientes que comparten el mismo modelo Chat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5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2880360"/>
            <a:ext cx="926287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Scene Builder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4343400"/>
            <a:ext cx="92628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Arrastrar y soltar componentes — ahora que entendemos el código que hay detrás.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897112" y="822960"/>
            <a:ext cx="2377440" cy="2377440"/>
          </a:xfrm>
          <a:prstGeom prst="ellipse">
            <a:avLst/>
          </a:prstGeom>
          <a:solidFill>
            <a:srgbClr val="141B4D"/>
          </a:solidFill>
          <a:ln w="19050">
            <a:solidFill>
              <a:srgbClr val="5B7F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97112" y="8229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5B7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— LICENCIA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Gratis y open source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14344" cy="2377440"/>
          </a:xfrm>
          <a:prstGeom prst="roundRect">
            <a:avLst>
              <a:gd name="adj" fmla="val 2308"/>
            </a:avLst>
          </a:prstGeom>
          <a:solidFill>
            <a:srgbClr val="EEF2FB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377440"/>
            <a:ext cx="3057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Gratuito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971800"/>
            <a:ext cx="30571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 para alumnos ni para uso comercial.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7304" y="2103120"/>
            <a:ext cx="3514344" cy="2377440"/>
          </a:xfrm>
          <a:prstGeom prst="roundRect">
            <a:avLst>
              <a:gd name="adj" fmla="val 2308"/>
            </a:avLst>
          </a:prstGeom>
          <a:solidFill>
            <a:srgbClr val="EEF2FB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65904" y="2377440"/>
            <a:ext cx="3057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Licencia BSD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65904" y="2971800"/>
            <a:ext cx="30571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código abierto y reutilizable.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5968" y="2103120"/>
            <a:ext cx="3514344" cy="2377440"/>
          </a:xfrm>
          <a:prstGeom prst="roundRect">
            <a:avLst>
              <a:gd name="adj" fmla="val 2308"/>
            </a:avLst>
          </a:prstGeom>
          <a:solidFill>
            <a:srgbClr val="EEF2FB"/>
          </a:solidFill>
          <a:ln/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54568" y="2377440"/>
            <a:ext cx="3057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Mantenido por Gluon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54568" y="2971800"/>
            <a:ext cx="30571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gluonhq.com/products/scene-builder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— INSTALACIÓN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Poner a punto el entorno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965960"/>
            <a:ext cx="10314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Descargar el instalador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2423160"/>
            <a:ext cx="103144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gluonhq.com/products/scene-builder (Windows / macOS / Linux).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3429000"/>
            <a:ext cx="10314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Configurar IntelliJ IDEA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25880" y="3886200"/>
            <a:ext cx="103144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Settings → Languages &amp; Frameworks → JavaFX. Apuntar "Path to Scene Builder" al ejecutable instalado.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2120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doble click en un .fxml lo abre directo en Scene Builder.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— DEMO EN VIVO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Recrear la ventana de login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buSzPct val="100000"/>
              <a:buChar char="•"/>
            </a:pPr>
            <a:r>
              <a:rPr lang="en-US" sz="15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recrear VentanaInicioSesion (Label + TextField + Button en un GridPane) arrastrando componentes.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5B7FE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2450592"/>
            <a:ext cx="10451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Builder → nuevo documento → elegir GridPane como contenedor raíz.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90672"/>
            <a:ext cx="457200" cy="457200"/>
          </a:xfrm>
          <a:prstGeom prst="ellipse">
            <a:avLst/>
          </a:prstGeom>
          <a:solidFill>
            <a:srgbClr val="5B7FE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3072384"/>
            <a:ext cx="10451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Arrastrar un Label, un TextField y un Button a la grilla.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12464"/>
            <a:ext cx="457200" cy="457200"/>
          </a:xfrm>
          <a:prstGeom prst="ellipse">
            <a:avLst/>
          </a:prstGeom>
          <a:solidFill>
            <a:srgbClr val="5B7FE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694176"/>
            <a:ext cx="10451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Inspector, configurar texto y propiedades ("Usuario:", promptText, "Iniciar").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334256"/>
            <a:ext cx="457200" cy="457200"/>
          </a:xfrm>
          <a:prstGeom prst="ellipse">
            <a:avLst/>
          </a:prstGeom>
          <a:solidFill>
            <a:srgbClr val="5B7FE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4315968"/>
            <a:ext cx="10451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como login.fxml.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093208"/>
            <a:ext cx="11091672" cy="960120"/>
          </a:xfrm>
          <a:prstGeom prst="roundRect">
            <a:avLst>
              <a:gd name="adj" fmla="val 4762"/>
            </a:avLst>
          </a:prstGeom>
          <a:solidFill>
            <a:srgbClr val="F4F6FC"/>
          </a:solidFill>
          <a:ln w="12700">
            <a:solidFill>
              <a:srgbClr val="C7D0E8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48640" y="5093208"/>
            <a:ext cx="110916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Espacio para captura de pantalla de la demo — agregar luego ]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— FXML GENERADO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Mismo resultado, otra forma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2286000"/>
          </a:xfrm>
          <a:prstGeom prst="roundRect">
            <a:avLst>
              <a:gd name="adj" fmla="val 3200"/>
            </a:avLst>
          </a:prstGeom>
          <a:solidFill>
            <a:srgbClr val="141B4D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105430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&lt;GridPane hgap="8.0" vgap="8.0" fx:controller="...LoginController"&gt;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&lt;Label text="Usuario:" GridPane.columnIndex="0" GridPane.rowIndex="0" /&gt;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&lt;TextField fx:id="textUsuario" GridPane.columnIndex="1" GridPane.rowIndex="0" /&gt;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fx:id="btnIniciar" text="Iniciar" onAction="#onIniciar" ... /&gt;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&lt;/GridPane&gt;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343400"/>
            <a:ext cx="1109167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fx:controller — la clase Java que maneja los eventos de este FXML.</a:t>
            </a:r>
            <a:endParaRPr lang="en-US" sz="14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fx:id — nombre de campo que recibe la inyección automática en el controller.</a:t>
            </a:r>
            <a:endParaRPr lang="en-US" sz="14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onAction="#onIniciar" — conecta el botón a un método del controller sin código.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— CONTROLLER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patrón @FXML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2926080"/>
          </a:xfrm>
          <a:prstGeom prst="roundRect">
            <a:avLst>
              <a:gd name="adj" fmla="val 2500"/>
            </a:avLst>
          </a:prstGeom>
          <a:solidFill>
            <a:srgbClr val="141B4D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1054303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LoginController {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@FXML private TextField textUsuario;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@FXML private Button btnIniciar;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@FXML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void onIniciar(ActionEvent event) {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nombre = textUsuario.getText();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93776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inyecta automáticamente los campos @FXML que coinciden con un fx:id, y conecta los métodos referenciados por onAction. No hace falta buscar nodos ni registrar listeners a mano.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— CARGAR EL FXML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FXMLLoader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2011680"/>
          </a:xfrm>
          <a:prstGeom prst="roundRect">
            <a:avLst>
              <a:gd name="adj" fmla="val 3636"/>
            </a:avLst>
          </a:prstGeom>
          <a:solidFill>
            <a:srgbClr val="141B4D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03120"/>
            <a:ext cx="10543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start(Stage primaryStage) throws IOException {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Parent root = FXMLLoader.load(getClass().getResource("/login.fxml"));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primaryStage.setScene(new Scene(root));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primaryStage.show();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251960"/>
            <a:ext cx="1109167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el archivo FXML.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 el fx:controller.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Inyecta los campos @FXML.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 el Node raíz — todo en una línea.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7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— CIERRE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1772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esto importa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el proyecto del juego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1017727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FXML + Controller es el patrón que van a usar para las pantallas del proyecto del juego.</a:t>
            </a:r>
            <a:endParaRPr lang="en-US" sz="170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visual rápido en Scene Builder, lógica separada en una clase Controller.</a:t>
            </a:r>
            <a:endParaRPr lang="en-US" sz="170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Instalación, arrastrar componentes, fx:id, @FXML, FXMLLoader: exactamente lo que van a reutilizar.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UNLu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Interfaces gráficas con JavaFX</dc:title>
  <dc:subject>PptxGenJS Presentation</dc:subject>
  <dc:creator>Tutorial JavaFX POO</dc:creator>
  <cp:lastModifiedBy>Tutorial JavaFX POO</cp:lastModifiedBy>
  <cp:revision>1</cp:revision>
  <dcterms:created xsi:type="dcterms:W3CDTF">2026-08-14T15:46:34Z</dcterms:created>
  <dcterms:modified xsi:type="dcterms:W3CDTF">2026-08-14T15:46:34Z</dcterms:modified>
</cp:coreProperties>
</file>